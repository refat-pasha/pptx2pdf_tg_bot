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iQvFA1cz78MXqmFAdq7gOTeM98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5"/>
          <p:cNvGrpSpPr/>
          <p:nvPr/>
        </p:nvGrpSpPr>
        <p:grpSpPr>
          <a:xfrm>
            <a:off x="0" y="6463654"/>
            <a:ext cx="12092004" cy="394346"/>
            <a:chOff x="0" y="6485363"/>
            <a:chExt cx="12092004" cy="394346"/>
          </a:xfrm>
        </p:grpSpPr>
        <p:sp>
          <p:nvSpPr>
            <p:cNvPr id="11" name="Google Shape;11;p15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12" name="Google Shape;12;p15" descr="Daffodil International University Logo PNG Vector (EPS) Free Downloa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16"/>
          <p:cNvGrpSpPr/>
          <p:nvPr/>
        </p:nvGrpSpPr>
        <p:grpSpPr>
          <a:xfrm>
            <a:off x="0" y="6463654"/>
            <a:ext cx="12092004" cy="394346"/>
            <a:chOff x="0" y="6485363"/>
            <a:chExt cx="12092004" cy="394346"/>
          </a:xfrm>
        </p:grpSpPr>
        <p:sp>
          <p:nvSpPr>
            <p:cNvPr id="15" name="Google Shape;15;p16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16" name="Google Shape;16;p16" descr="Daffodil International University Logo PNG Vector (EPS) Free Downloa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marR="0" lvl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sz="32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sz="18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2286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sz="16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17500" algn="l" rtl="0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7B7B1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7B7B15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3200400" marR="0" lvl="6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7B7B1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7B7B15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3657600" marR="0" lvl="7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7B7B15"/>
              </a:buClr>
              <a:buSzPts val="1400"/>
              <a:buFont typeface="Corbel"/>
              <a:buChar char="–"/>
              <a:defRPr sz="1400" b="0" i="0" u="none" strike="noStrike" cap="none">
                <a:solidFill>
                  <a:srgbClr val="7B7B15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4114800" marR="0" lvl="8" indent="-317500" algn="l" rtl="0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7B7B15"/>
              </a:buClr>
              <a:buSzPts val="1400"/>
              <a:buFont typeface="Corbel"/>
              <a:buChar char="–"/>
              <a:defRPr sz="1400" b="0" i="1" u="none" strike="noStrike" cap="none">
                <a:solidFill>
                  <a:srgbClr val="7B7B15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endParaRPr/>
          </a:p>
        </p:txBody>
      </p:sp>
      <p:cxnSp>
        <p:nvCxnSpPr>
          <p:cNvPr id="8" name="Google Shape;8;p14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" name="Google Shape;22;p1"/>
          <p:cNvSpPr/>
          <p:nvPr/>
        </p:nvSpPr>
        <p:spPr>
          <a:xfrm flipH="1">
            <a:off x="966083" y="0"/>
            <a:ext cx="9841377" cy="6858000"/>
          </a:xfrm>
          <a:custGeom>
            <a:avLst/>
            <a:gdLst/>
            <a:ahLst/>
            <a:cxnLst/>
            <a:rect l="l" t="t" r="r" b="b"/>
            <a:pathLst>
              <a:path w="9841377" h="6858000" extrusionOk="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lt1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" name="Google Shape;23;p1"/>
          <p:cNvSpPr/>
          <p:nvPr/>
        </p:nvSpPr>
        <p:spPr>
          <a:xfrm flipH="1">
            <a:off x="643035" y="0"/>
            <a:ext cx="2265453" cy="6858000"/>
          </a:xfrm>
          <a:custGeom>
            <a:avLst/>
            <a:gdLst/>
            <a:ahLst/>
            <a:cxnLst/>
            <a:rect l="l" t="t" r="r" b="b"/>
            <a:pathLst>
              <a:path w="2265453" h="6858000" extrusionOk="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" name="Google Shape;24;p1"/>
          <p:cNvSpPr/>
          <p:nvPr/>
        </p:nvSpPr>
        <p:spPr>
          <a:xfrm flipH="1">
            <a:off x="811033" y="0"/>
            <a:ext cx="2486322" cy="6858000"/>
          </a:xfrm>
          <a:custGeom>
            <a:avLst/>
            <a:gdLst/>
            <a:ahLst/>
            <a:cxnLst/>
            <a:rect l="l" t="t" r="r" b="b"/>
            <a:pathLst>
              <a:path w="2521425" h="6858000" extrusionOk="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696194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 extrusionOk="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523292" y="0"/>
            <a:ext cx="2486322" cy="6858000"/>
          </a:xfrm>
          <a:custGeom>
            <a:avLst/>
            <a:gdLst/>
            <a:ahLst/>
            <a:cxnLst/>
            <a:rect l="l" t="t" r="r" b="b"/>
            <a:pathLst>
              <a:path w="2521425" h="6858000" extrusionOk="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" name="Google Shape;27;p1"/>
          <p:cNvSpPr txBox="1">
            <a:spLocks noGrp="1"/>
          </p:cNvSpPr>
          <p:nvPr>
            <p:ph type="ctrTitle" idx="4294967295"/>
          </p:nvPr>
        </p:nvSpPr>
        <p:spPr>
          <a:xfrm>
            <a:off x="2282190" y="2304288"/>
            <a:ext cx="7810500" cy="17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 fontScale="90000"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eiryo"/>
              <a:buNone/>
            </a:pPr>
            <a:endParaRPr sz="3200" b="0" i="0" u="none" strike="noStrike" cap="non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eiryo"/>
              <a:buNone/>
            </a:pPr>
            <a:r>
              <a:rPr lang="en-US" sz="45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Mobile Ecosystems and Development Environments</a:t>
            </a:r>
            <a:endParaRPr sz="3200" b="0" i="0" u="none" strike="noStrike" cap="non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" name="Google Shape;28;p1"/>
          <p:cNvSpPr txBox="1">
            <a:spLocks noGrp="1"/>
          </p:cNvSpPr>
          <p:nvPr>
            <p:ph type="subTitle" idx="4294967295"/>
          </p:nvPr>
        </p:nvSpPr>
        <p:spPr>
          <a:xfrm>
            <a:off x="2710815" y="4190785"/>
            <a:ext cx="6953250" cy="86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orbel"/>
              <a:buNone/>
            </a:pPr>
            <a:r>
              <a:rPr lang="en-US" sz="15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Course Code: CSE413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orbel"/>
              <a:buNone/>
            </a:pPr>
            <a:r>
              <a:rPr lang="en-US" sz="15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Course Title: Mobile Application Design</a:t>
            </a:r>
            <a:endParaRPr sz="1500" b="0" i="0" u="none" strike="noStrike" cap="non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4852839" y="1684722"/>
            <a:ext cx="24863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Lecture-02</a:t>
            </a:r>
            <a:endParaRPr/>
          </a:p>
        </p:txBody>
      </p:sp>
      <p:pic>
        <p:nvPicPr>
          <p:cNvPr id="30" name="Google Shape;30;p1" descr="Daffodil International University Logo PNG Vector (EPS)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168" y="268225"/>
            <a:ext cx="1545797" cy="42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" descr="A logo of a company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98819" y="131065"/>
            <a:ext cx="695447" cy="695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" name="Google Shape;37;p2"/>
          <p:cNvSpPr/>
          <p:nvPr/>
        </p:nvSpPr>
        <p:spPr>
          <a:xfrm rot="5400000">
            <a:off x="5026626" y="-5026319"/>
            <a:ext cx="2138900" cy="12191541"/>
          </a:xfrm>
          <a:custGeom>
            <a:avLst/>
            <a:gdLst/>
            <a:ahLst/>
            <a:cxnLst/>
            <a:rect l="l" t="t" r="r" b="b"/>
            <a:pathLst>
              <a:path w="2382867" h="12191541" extrusionOk="0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" name="Google Shape;38;p2"/>
          <p:cNvSpPr/>
          <p:nvPr/>
        </p:nvSpPr>
        <p:spPr>
          <a:xfrm rot="5400000">
            <a:off x="5527211" y="-4339476"/>
            <a:ext cx="1137882" cy="12191694"/>
          </a:xfrm>
          <a:custGeom>
            <a:avLst/>
            <a:gdLst/>
            <a:ahLst/>
            <a:cxnLst/>
            <a:rect l="l" t="t" r="r" b="b"/>
            <a:pathLst>
              <a:path w="1240954" h="12191694" extrusionOk="0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" name="Google Shape;39;p2"/>
          <p:cNvSpPr txBox="1">
            <a:spLocks noGrp="1"/>
          </p:cNvSpPr>
          <p:nvPr>
            <p:ph type="title" idx="4294967295"/>
          </p:nvPr>
        </p:nvSpPr>
        <p:spPr>
          <a:xfrm>
            <a:off x="1217944" y="543687"/>
            <a:ext cx="9756112" cy="104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Learning Outcomes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 rot="5400000">
            <a:off x="5590529" y="-4583452"/>
            <a:ext cx="1011248" cy="12191695"/>
          </a:xfrm>
          <a:custGeom>
            <a:avLst/>
            <a:gdLst/>
            <a:ahLst/>
            <a:cxnLst/>
            <a:rect l="l" t="t" r="r" b="b"/>
            <a:pathLst>
              <a:path w="1102849" h="12191695" extrusionOk="0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rgbClr val="C8C8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41" name="Google Shape;41;p2"/>
          <p:cNvGrpSpPr/>
          <p:nvPr/>
        </p:nvGrpSpPr>
        <p:grpSpPr>
          <a:xfrm>
            <a:off x="1711171" y="2562009"/>
            <a:ext cx="8769350" cy="3288818"/>
            <a:chOff x="0" y="401"/>
            <a:chExt cx="8769350" cy="3288818"/>
          </a:xfrm>
        </p:grpSpPr>
        <p:sp>
          <p:nvSpPr>
            <p:cNvPr id="42" name="Google Shape;42;p2"/>
            <p:cNvSpPr/>
            <p:nvPr/>
          </p:nvSpPr>
          <p:spPr>
            <a:xfrm>
              <a:off x="0" y="401"/>
              <a:ext cx="8769350" cy="93966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84247" y="211825"/>
              <a:ext cx="516814" cy="51681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085309" y="401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 txBox="1"/>
            <p:nvPr/>
          </p:nvSpPr>
          <p:spPr>
            <a:xfrm>
              <a:off x="1085309" y="401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425" tIns="99425" rIns="99425" bIns="99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Overview of mobile OS architectures</a:t>
              </a:r>
              <a:endParaRPr sz="19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0" y="1174979"/>
              <a:ext cx="8769350" cy="93966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4247" y="1386403"/>
              <a:ext cx="516814" cy="51681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85309" y="1174979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 txBox="1"/>
            <p:nvPr/>
          </p:nvSpPr>
          <p:spPr>
            <a:xfrm>
              <a:off x="1085309" y="1174979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425" tIns="99425" rIns="99425" bIns="99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Introduction to SDKs (Android SDK, iOS SDK)</a:t>
              </a:r>
              <a:endParaRPr sz="19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0" y="2349557"/>
              <a:ext cx="8769350" cy="939662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84247" y="2560981"/>
              <a:ext cx="516814" cy="51681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>
                  <a:alpha val="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85309" y="2349557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 txBox="1"/>
            <p:nvPr/>
          </p:nvSpPr>
          <p:spPr>
            <a:xfrm>
              <a:off x="1085309" y="2349557"/>
              <a:ext cx="7684040" cy="939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425" tIns="99425" rIns="99425" bIns="99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None/>
              </a:pPr>
              <a:r>
                <a:rPr lang="en-US" sz="19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Role of SDK tools in supporting app design and development</a:t>
              </a:r>
              <a:endParaRPr sz="19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55" name="Google Shape;55;p2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56" name="Google Shape;56;p2" descr="Daffodil International University Logo PNG Vector (EPS) Free Downloa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3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63" name="Google Shape;63;p3" descr="The Mobile App Ecosystem: Authentication » Indexnine Technologies"/>
          <p:cNvPicPr preferRelativeResize="0"/>
          <p:nvPr/>
        </p:nvPicPr>
        <p:blipFill rotWithShape="1">
          <a:blip r:embed="rId3">
            <a:alphaModFix/>
          </a:blip>
          <a:srcRect l="12910" b="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 rot="5400000">
            <a:off x="3167675" y="-3167677"/>
            <a:ext cx="5856341" cy="12191695"/>
          </a:xfrm>
          <a:custGeom>
            <a:avLst/>
            <a:gdLst/>
            <a:ahLst/>
            <a:cxnLst/>
            <a:rect l="l" t="t" r="r" b="b"/>
            <a:pathLst>
              <a:path w="5856341" h="12191695" extrusionOk="0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lt1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920875" y="442913"/>
            <a:ext cx="8391967" cy="134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What is Mobile Ecosystem?</a:t>
            </a:r>
            <a:endParaRPr sz="3200" b="1" i="0" u="none" strike="noStrike" cap="non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6" name="Google Shape;66;p3"/>
          <p:cNvSpPr/>
          <p:nvPr/>
        </p:nvSpPr>
        <p:spPr>
          <a:xfrm rot="5400000">
            <a:off x="5146277" y="-874927"/>
            <a:ext cx="1899138" cy="12191695"/>
          </a:xfrm>
          <a:custGeom>
            <a:avLst/>
            <a:gdLst/>
            <a:ahLst/>
            <a:cxnLst/>
            <a:rect l="l" t="t" r="r" b="b"/>
            <a:pathLst>
              <a:path w="2529723" h="6858000" extrusionOk="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" name="Google Shape;67;p3"/>
          <p:cNvSpPr/>
          <p:nvPr/>
        </p:nvSpPr>
        <p:spPr>
          <a:xfrm rot="5400000">
            <a:off x="5143758" y="-1037574"/>
            <a:ext cx="1904176" cy="12191695"/>
          </a:xfrm>
          <a:custGeom>
            <a:avLst/>
            <a:gdLst/>
            <a:ahLst/>
            <a:cxnLst/>
            <a:rect l="l" t="t" r="r" b="b"/>
            <a:pathLst>
              <a:path w="2536434" h="6858000" extrusionOk="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1920875" y="2107096"/>
            <a:ext cx="8391967" cy="2846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t" anchorCtr="0">
            <a:norm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 mobile ecosystem refers to the interconnected network of devices, software, services, technologies, and stakeholders that work together to enable and support mobile communication, computing, and applications. It is a dynamic environment where various elements interact to provide a seamless experience for users, developers, manufacturers, and service providers. </a:t>
            </a:r>
            <a:endParaRPr sz="18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4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4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75" name="Google Shape;75;p4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76" name="Google Shape;76;p4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80" name="Google Shape;80;p4"/>
          <p:cNvSpPr txBox="1"/>
          <p:nvPr/>
        </p:nvSpPr>
        <p:spPr>
          <a:xfrm>
            <a:off x="1920875" y="158778"/>
            <a:ext cx="8006822" cy="8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 fontScale="925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Mobile Ecosystem: Key Components</a:t>
            </a:r>
            <a:endParaRPr/>
          </a:p>
        </p:txBody>
      </p:sp>
      <p:pic>
        <p:nvPicPr>
          <p:cNvPr id="81" name="Google Shape;81;p4" descr="A diagram of a mobile ecosyste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8517" y="1295722"/>
            <a:ext cx="9027439" cy="542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5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5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88" name="Google Shape;88;p5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89" name="Google Shape;89;p5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93" name="Google Shape;93;p5"/>
          <p:cNvSpPr txBox="1"/>
          <p:nvPr/>
        </p:nvSpPr>
        <p:spPr>
          <a:xfrm>
            <a:off x="1920875" y="442913"/>
            <a:ext cx="8120107" cy="130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Mobile Ecosystem: Key Components</a:t>
            </a:r>
            <a:endParaRPr/>
          </a:p>
        </p:txBody>
      </p:sp>
      <p:grpSp>
        <p:nvGrpSpPr>
          <p:cNvPr id="94" name="Google Shape;94;p5"/>
          <p:cNvGrpSpPr/>
          <p:nvPr/>
        </p:nvGrpSpPr>
        <p:grpSpPr>
          <a:xfrm>
            <a:off x="609408" y="2589400"/>
            <a:ext cx="9838194" cy="3008002"/>
            <a:chOff x="229484" y="495979"/>
            <a:chExt cx="9265581" cy="3008002"/>
          </a:xfrm>
        </p:grpSpPr>
        <p:sp>
          <p:nvSpPr>
            <p:cNvPr id="95" name="Google Shape;95;p5"/>
            <p:cNvSpPr/>
            <p:nvPr/>
          </p:nvSpPr>
          <p:spPr>
            <a:xfrm>
              <a:off x="792586" y="495979"/>
              <a:ext cx="921438" cy="92143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29484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 txBox="1"/>
            <p:nvPr/>
          </p:nvSpPr>
          <p:spPr>
            <a:xfrm>
              <a:off x="229484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Mobile Manufacturers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Companies like Samsung, Apple, and Huawei that produce smartphones and tablets</a:t>
              </a:r>
              <a:endParaRPr sz="2000"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198565" y="495979"/>
              <a:ext cx="921438" cy="92143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2635464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 txBox="1"/>
            <p:nvPr/>
          </p:nvSpPr>
          <p:spPr>
            <a:xfrm>
              <a:off x="2635464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Operating System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Software platforms like Android and iOS that power mobile devices</a:t>
              </a:r>
              <a:endParaRPr sz="2000"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5604545" y="495979"/>
              <a:ext cx="921438" cy="92143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041443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 txBox="1"/>
            <p:nvPr/>
          </p:nvSpPr>
          <p:spPr>
            <a:xfrm>
              <a:off x="5041443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Mobile Apps, Mobile Websites, and Testing Tools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Applications and websites specifically designed for mobile platforms, along with tools for testing them</a:t>
              </a:r>
              <a:endParaRPr sz="2000"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8010524" y="495979"/>
              <a:ext cx="921438" cy="92143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447423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7447423" y="1868776"/>
              <a:ext cx="2047642" cy="1635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Mobile Development Companies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Organizations that create mobile applications and websites</a:t>
              </a:r>
              <a:endParaRPr sz="21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6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6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14" name="Google Shape;114;p6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18" name="Google Shape;118;p6"/>
          <p:cNvSpPr txBox="1"/>
          <p:nvPr/>
        </p:nvSpPr>
        <p:spPr>
          <a:xfrm>
            <a:off x="1920875" y="442913"/>
            <a:ext cx="8218079" cy="130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Mobile Ecosystem: Key Components</a:t>
            </a:r>
            <a:endParaRPr/>
          </a:p>
        </p:txBody>
      </p:sp>
      <p:grpSp>
        <p:nvGrpSpPr>
          <p:cNvPr id="119" name="Google Shape;119;p6"/>
          <p:cNvGrpSpPr/>
          <p:nvPr/>
        </p:nvGrpSpPr>
        <p:grpSpPr>
          <a:xfrm>
            <a:off x="1181715" y="2743942"/>
            <a:ext cx="9265581" cy="2698935"/>
            <a:chOff x="229484" y="650513"/>
            <a:chExt cx="9265581" cy="2698935"/>
          </a:xfrm>
        </p:grpSpPr>
        <p:sp>
          <p:nvSpPr>
            <p:cNvPr id="120" name="Google Shape;120;p6"/>
            <p:cNvSpPr/>
            <p:nvPr/>
          </p:nvSpPr>
          <p:spPr>
            <a:xfrm>
              <a:off x="792586" y="650513"/>
              <a:ext cx="921438" cy="92143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29484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 txBox="1"/>
            <p:nvPr/>
          </p:nvSpPr>
          <p:spPr>
            <a:xfrm>
              <a:off x="229484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Mobile Apps Store</a:t>
              </a:r>
              <a:r>
                <a:rPr lang="en-US" sz="1700" b="0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: Platforms like Google Play Store and Apple App Store that distribute applications to users</a:t>
              </a:r>
              <a:endParaRPr sz="17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3198565" y="650513"/>
              <a:ext cx="921438" cy="92143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2635464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2635464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Mobile Ad Companies</a:t>
              </a:r>
              <a:r>
                <a:rPr lang="en-US" sz="1700" b="0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: Businesses that manage advertising on mobile platforms</a:t>
              </a:r>
              <a:endParaRPr sz="1700" b="0" i="0" u="none" strike="noStrike" cap="non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5604545" y="650513"/>
              <a:ext cx="921438" cy="92143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5041443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 txBox="1"/>
            <p:nvPr/>
          </p:nvSpPr>
          <p:spPr>
            <a:xfrm>
              <a:off x="5041443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Carrier</a:t>
              </a:r>
              <a:r>
                <a:rPr lang="en-US" sz="1700" b="0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: Network providers such as AT&amp;T, Verizon, or T-Mobile that enable connectivity</a:t>
              </a:r>
              <a:endParaRPr sz="17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8010524" y="650513"/>
              <a:ext cx="921438" cy="92143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447423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7447423" y="1976948"/>
              <a:ext cx="2047642" cy="137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Network</a:t>
              </a:r>
              <a:r>
                <a:rPr lang="en-US" sz="1700" b="0" i="0" u="none" strike="noStrike" cap="none">
                  <a:solidFill>
                    <a:srgbClr val="3F3F3F"/>
                  </a:solidFill>
                  <a:latin typeface="Meiryo"/>
                  <a:ea typeface="Meiryo"/>
                  <a:cs typeface="Meiryo"/>
                  <a:sym typeface="Meiryo"/>
                </a:rPr>
                <a:t>: Infrastructure for data transfer, including 4G, 5G, and Wi-Fi</a:t>
              </a:r>
              <a:endParaRPr sz="1700" b="0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7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39" name="Google Shape;139;p7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43" name="Google Shape;143;p7"/>
          <p:cNvSpPr txBox="1"/>
          <p:nvPr/>
        </p:nvSpPr>
        <p:spPr>
          <a:xfrm>
            <a:off x="1550761" y="442913"/>
            <a:ext cx="8642621" cy="1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Mobile Ecosystem: Key Components</a:t>
            </a:r>
            <a:endParaRPr/>
          </a:p>
        </p:txBody>
      </p:sp>
      <p:grpSp>
        <p:nvGrpSpPr>
          <p:cNvPr id="144" name="Google Shape;144;p7"/>
          <p:cNvGrpSpPr/>
          <p:nvPr/>
        </p:nvGrpSpPr>
        <p:grpSpPr>
          <a:xfrm>
            <a:off x="1181715" y="3061637"/>
            <a:ext cx="9265581" cy="2063545"/>
            <a:chOff x="229484" y="968208"/>
            <a:chExt cx="9265581" cy="2063545"/>
          </a:xfrm>
        </p:grpSpPr>
        <p:sp>
          <p:nvSpPr>
            <p:cNvPr id="145" name="Google Shape;145;p7"/>
            <p:cNvSpPr/>
            <p:nvPr/>
          </p:nvSpPr>
          <p:spPr>
            <a:xfrm>
              <a:off x="792586" y="968208"/>
              <a:ext cx="921438" cy="92143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229484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 txBox="1"/>
            <p:nvPr/>
          </p:nvSpPr>
          <p:spPr>
            <a:xfrm>
              <a:off x="229484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Mobile Cloud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Cloud services for storage, processing, and app integration</a:t>
              </a:r>
              <a:endParaRPr sz="17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3198565" y="968208"/>
              <a:ext cx="921438" cy="92143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2635464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 txBox="1"/>
            <p:nvPr/>
          </p:nvSpPr>
          <p:spPr>
            <a:xfrm>
              <a:off x="2635464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Devices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Hardware like smartphones, tablets, and wearables</a:t>
              </a:r>
              <a:endParaRPr sz="1700"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5604545" y="968208"/>
              <a:ext cx="921438" cy="92143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5041443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 txBox="1"/>
            <p:nvPr/>
          </p:nvSpPr>
          <p:spPr>
            <a:xfrm>
              <a:off x="5041443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Mobile Users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End-users who interact with mobile devices and apps</a:t>
              </a:r>
              <a:endParaRPr sz="2000"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8010524" y="968208"/>
              <a:ext cx="921438" cy="92143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7447423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7"/>
            <p:cNvSpPr txBox="1"/>
            <p:nvPr/>
          </p:nvSpPr>
          <p:spPr>
            <a:xfrm>
              <a:off x="7447423" y="2199253"/>
              <a:ext cx="2047642" cy="8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Others</a:t>
              </a:r>
              <a:r>
                <a:rPr lang="en-US" sz="17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: Any additional stakeholders or technologies supporting the ecosystem</a:t>
              </a:r>
              <a:endParaRPr sz="20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62" name="Google Shape;162;p8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63" name="Google Shape;163;p8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67" name="Google Shape;167;p8"/>
          <p:cNvSpPr txBox="1">
            <a:spLocks noGrp="1"/>
          </p:cNvSpPr>
          <p:nvPr>
            <p:ph type="title" idx="4294967295"/>
          </p:nvPr>
        </p:nvSpPr>
        <p:spPr>
          <a:xfrm>
            <a:off x="1034653" y="263507"/>
            <a:ext cx="8505040" cy="109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 fontScale="90000"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Meiryo"/>
              <a:buNone/>
            </a:pPr>
            <a:br>
              <a:rPr lang="en-US"/>
            </a:br>
            <a:r>
              <a:rPr lang="en-US"/>
              <a:t>Mobile OS Architectures</a:t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>
            <a:off x="1753640" y="1741863"/>
            <a:ext cx="7040961" cy="3999240"/>
            <a:chOff x="0" y="138489"/>
            <a:chExt cx="7040961" cy="3999240"/>
          </a:xfrm>
        </p:grpSpPr>
        <p:sp>
          <p:nvSpPr>
            <p:cNvPr id="169" name="Google Shape;169;p8"/>
            <p:cNvSpPr/>
            <p:nvPr/>
          </p:nvSpPr>
          <p:spPr>
            <a:xfrm>
              <a:off x="0" y="345129"/>
              <a:ext cx="7040961" cy="37926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0" y="345129"/>
              <a:ext cx="7040961" cy="37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46450" tIns="291575" rIns="546450" bIns="99550" anchor="t" anchorCtr="0">
              <a:noAutofit/>
            </a:bodyPr>
            <a:lstStyle/>
            <a:p>
              <a:pPr marL="114300" marR="0" lvl="1" indent="-13970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✔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Proprietary System: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Developed exclusively by Apple, ensuring uniformity.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9700" algn="just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✔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User Experience: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Emphasizes seamless design and high performance.</a:t>
              </a:r>
              <a:endParaRPr sz="1800"/>
            </a:p>
            <a:p>
              <a:pPr marL="114300" marR="0" lvl="1" indent="-139700" algn="just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✔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Security: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Advanced encryption and app review processes for heightened safety.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9700" algn="just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✔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Hardware Integration: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Designed to work specifically with Apple devices like iPhones, iPads, and Apple Watch.</a:t>
              </a:r>
              <a:endParaRPr sz="1800"/>
            </a:p>
            <a:p>
              <a:pPr marL="114300" marR="0" lvl="1" indent="-139700" algn="just" rtl="0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Char char="✔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Development Tools: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Xcode with Interface Builder and seamless App Store deployment.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52048" y="138489"/>
              <a:ext cx="4928672" cy="413280"/>
            </a:xfrm>
            <a:prstGeom prst="roundRect">
              <a:avLst>
                <a:gd name="adj" fmla="val 16667"/>
              </a:avLst>
            </a:prstGeom>
            <a:solidFill>
              <a:srgbClr val="00B0F0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372223" y="158664"/>
              <a:ext cx="4888322" cy="37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6275" tIns="0" rIns="186275" bIns="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eiryo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iOS</a:t>
              </a:r>
              <a:endParaRPr sz="23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173" name="Google Shape;173;p8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174" name="Google Shape;174;p8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175" name="Google Shape;175;p8" descr="Daffodil International University Logo PNG Vector (EPS) Free Downloa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6" name="Google Shape;176;p8" descr="What is iOS? - Tech Monit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4840" y="2401499"/>
            <a:ext cx="3185922" cy="3185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83" name="Google Shape;183;p9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87" name="Google Shape;187;p9"/>
          <p:cNvSpPr txBox="1">
            <a:spLocks noGrp="1"/>
          </p:cNvSpPr>
          <p:nvPr>
            <p:ph type="title" idx="4294967295"/>
          </p:nvPr>
        </p:nvSpPr>
        <p:spPr>
          <a:xfrm>
            <a:off x="1338256" y="597852"/>
            <a:ext cx="8275319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Meiryo"/>
              <a:buNone/>
            </a:pPr>
            <a:r>
              <a:rPr lang="en-US" sz="3000"/>
              <a:t>Mobile OS Architectures</a:t>
            </a:r>
            <a:endParaRPr/>
          </a:p>
        </p:txBody>
      </p:sp>
      <p:grpSp>
        <p:nvGrpSpPr>
          <p:cNvPr id="188" name="Google Shape;188;p9"/>
          <p:cNvGrpSpPr/>
          <p:nvPr/>
        </p:nvGrpSpPr>
        <p:grpSpPr>
          <a:xfrm>
            <a:off x="1394540" y="1644753"/>
            <a:ext cx="7310548" cy="4284900"/>
            <a:chOff x="0" y="41378"/>
            <a:chExt cx="7310548" cy="4284900"/>
          </a:xfrm>
        </p:grpSpPr>
        <p:sp>
          <p:nvSpPr>
            <p:cNvPr id="189" name="Google Shape;189;p9"/>
            <p:cNvSpPr/>
            <p:nvPr/>
          </p:nvSpPr>
          <p:spPr>
            <a:xfrm>
              <a:off x="0" y="262778"/>
              <a:ext cx="7310548" cy="4063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0" y="262778"/>
              <a:ext cx="7310548" cy="406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312400" rIns="567375" bIns="106675" anchor="t" anchorCtr="0">
              <a:noAutofit/>
            </a:bodyPr>
            <a:lstStyle/>
            <a:p>
              <a:pPr marL="114300" marR="0" lvl="1" indent="-1333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Open Source: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Based on Linux, allowing for greater customization.</a:t>
              </a:r>
              <a:endParaRPr sz="1800" b="1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3350" algn="l" rtl="0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Hardware Support: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Compatible with various manufacturers like Samsung, Xiaomi, and OnePlus.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3350" algn="l" rtl="0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App Scalability: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Supports a wide range of screen sizes and device configurations.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3350" algn="l" rtl="0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Ecosystem: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Integration with Google services like Gmail, Drive, and Maps.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3350" algn="l" rtl="0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1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Development Tools: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Android Studio with extensive debugging tools and emulators.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365527" y="41378"/>
              <a:ext cx="5117383" cy="442800"/>
            </a:xfrm>
            <a:prstGeom prst="roundRect">
              <a:avLst>
                <a:gd name="adj" fmla="val 16667"/>
              </a:avLst>
            </a:prstGeom>
            <a:solidFill>
              <a:srgbClr val="00B0F0"/>
            </a:solidFill>
            <a:ln>
              <a:noFill/>
            </a:ln>
            <a:effectLst>
              <a:outerShdw blurRad="57150" dist="25400" dir="5400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 txBox="1"/>
            <p:nvPr/>
          </p:nvSpPr>
          <p:spPr>
            <a:xfrm>
              <a:off x="387143" y="62994"/>
              <a:ext cx="5074151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eiryo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Android</a:t>
              </a:r>
              <a:endParaRPr sz="2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193" name="Google Shape;193;p9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194" name="Google Shape;194;p9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195" name="Google Shape;195;p9" descr="Daffodil International University Logo PNG Vector (EPS) Free Downloa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6" name="Google Shape;196;p9" descr="My Android - Apps on Google Pla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82824" y="1979379"/>
            <a:ext cx="3572256" cy="357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>
            <a:off x="12626" y="21709"/>
            <a:ext cx="10853745" cy="6858000"/>
            <a:chOff x="-1" y="0"/>
            <a:chExt cx="10934058" cy="6858000"/>
          </a:xfrm>
        </p:grpSpPr>
        <p:sp>
          <p:nvSpPr>
            <p:cNvPr id="203" name="Google Shape;203;p10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07" name="Google Shape;207;p10"/>
          <p:cNvSpPr txBox="1">
            <a:spLocks noGrp="1"/>
          </p:cNvSpPr>
          <p:nvPr>
            <p:ph type="title" idx="4294967295"/>
          </p:nvPr>
        </p:nvSpPr>
        <p:spPr>
          <a:xfrm>
            <a:off x="902828" y="293052"/>
            <a:ext cx="9527174" cy="105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000"/>
              <a:buFont typeface="Meiryo"/>
              <a:buNone/>
            </a:pPr>
            <a:r>
              <a:rPr lang="en-US" sz="3000">
                <a:solidFill>
                  <a:srgbClr val="404040"/>
                </a:solidFill>
              </a:rPr>
              <a:t>Introduction to SDKs</a:t>
            </a:r>
            <a:endParaRPr/>
          </a:p>
        </p:txBody>
      </p:sp>
      <p:grpSp>
        <p:nvGrpSpPr>
          <p:cNvPr id="208" name="Google Shape;208;p10"/>
          <p:cNvGrpSpPr/>
          <p:nvPr/>
        </p:nvGrpSpPr>
        <p:grpSpPr>
          <a:xfrm>
            <a:off x="1284096" y="1769088"/>
            <a:ext cx="7420992" cy="4098683"/>
            <a:chOff x="-110444" y="165713"/>
            <a:chExt cx="7420992" cy="4098683"/>
          </a:xfrm>
        </p:grpSpPr>
        <p:sp>
          <p:nvSpPr>
            <p:cNvPr id="209" name="Google Shape;209;p10"/>
            <p:cNvSpPr/>
            <p:nvPr/>
          </p:nvSpPr>
          <p:spPr>
            <a:xfrm>
              <a:off x="0" y="328073"/>
              <a:ext cx="7310548" cy="277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365527" y="165713"/>
              <a:ext cx="5117383" cy="32472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0"/>
            <p:cNvSpPr txBox="1"/>
            <p:nvPr/>
          </p:nvSpPr>
          <p:spPr>
            <a:xfrm>
              <a:off x="381379" y="181565"/>
              <a:ext cx="5085679" cy="293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Meiryo"/>
                <a:buNone/>
              </a:pPr>
              <a:r>
                <a:rPr lang="en-US" sz="24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Android SDK</a:t>
              </a:r>
              <a:endParaRPr sz="24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0" y="827033"/>
              <a:ext cx="7310548" cy="17325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0" y="827033"/>
              <a:ext cx="7310548" cy="17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29100" rIns="567375" bIns="78225" anchor="t" anchorCtr="0">
              <a:noAutofit/>
            </a:bodyPr>
            <a:lstStyle/>
            <a:p>
              <a:pPr marL="5715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Emulator: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Simulates Android devices for app testing.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Debugger: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Identifies and resolves code errors effectively.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APIs: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Provides access to hardware features like camera, sensors, and GPS.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Build Tools: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Assists in compiling, packaging, and deploying apps.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Supported Languages: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Java, Kotlin, and C++.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365527" y="664673"/>
              <a:ext cx="5117383" cy="32472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381379" y="680525"/>
              <a:ext cx="5085679" cy="293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Core Components</a:t>
              </a:r>
              <a:endParaRPr sz="1700" b="1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2781293"/>
              <a:ext cx="7310548" cy="14206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 txBox="1"/>
            <p:nvPr/>
          </p:nvSpPr>
          <p:spPr>
            <a:xfrm>
              <a:off x="-110444" y="2843746"/>
              <a:ext cx="7310548" cy="1420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29100" rIns="567375" bIns="78225" anchor="t" anchorCtr="0">
              <a:noAutofit/>
            </a:bodyPr>
            <a:lstStyle/>
            <a:p>
              <a:pPr marL="5715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Compatibility with a variety of Android devices and manufacturers.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Rich ecosystem of libraries and tools for rapid development.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57150" marR="0" lvl="1" indent="-11430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Integration with Google services (e.g., Firebase, Google Maps).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2" indent="0" algn="l" rtl="0">
                <a:lnSpc>
                  <a:spcPct val="90000"/>
                </a:lnSpc>
                <a:spcBef>
                  <a:spcPts val="16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eiryo"/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365527" y="2618933"/>
              <a:ext cx="5117383" cy="32472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381379" y="2634785"/>
              <a:ext cx="5085679" cy="2930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Meiryo"/>
                <a:buNone/>
              </a:pPr>
              <a:r>
                <a:rPr lang="en-US" sz="1800" b="1" i="0" u="none" strike="noStrike" cap="none" dirty="0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Strengths:</a:t>
              </a:r>
              <a:endParaRPr sz="1800" b="0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20" name="Google Shape;220;p10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221" name="Google Shape;221;p10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222" name="Google Shape;222;p10" descr="Daffodil International University Logo PNG Vector (EPS) Free Downloa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3" name="Google Shape;223;p10" descr="My Android - Apps on Google Pla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7118" y="2312988"/>
            <a:ext cx="3572256" cy="357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29" name="Google Shape;229;p11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230" name="Google Shape;230;p11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34" name="Google Shape;234;p11"/>
          <p:cNvSpPr txBox="1">
            <a:spLocks noGrp="1"/>
          </p:cNvSpPr>
          <p:nvPr>
            <p:ph type="title" idx="4294967295"/>
          </p:nvPr>
        </p:nvSpPr>
        <p:spPr>
          <a:xfrm>
            <a:off x="902828" y="293052"/>
            <a:ext cx="9527174" cy="105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3000"/>
              <a:buFont typeface="Meiryo"/>
              <a:buNone/>
            </a:pPr>
            <a:r>
              <a:rPr lang="en-US" sz="3000">
                <a:solidFill>
                  <a:srgbClr val="404040"/>
                </a:solidFill>
              </a:rPr>
              <a:t>Introduction to SDKs</a:t>
            </a:r>
            <a:endParaRPr/>
          </a:p>
        </p:txBody>
      </p:sp>
      <p:grpSp>
        <p:nvGrpSpPr>
          <p:cNvPr id="235" name="Google Shape;235;p11"/>
          <p:cNvGrpSpPr/>
          <p:nvPr/>
        </p:nvGrpSpPr>
        <p:grpSpPr>
          <a:xfrm>
            <a:off x="1394540" y="1736823"/>
            <a:ext cx="7310548" cy="4519549"/>
            <a:chOff x="0" y="133448"/>
            <a:chExt cx="7310548" cy="4519549"/>
          </a:xfrm>
        </p:grpSpPr>
        <p:sp>
          <p:nvSpPr>
            <p:cNvPr id="236" name="Google Shape;236;p11"/>
            <p:cNvSpPr/>
            <p:nvPr/>
          </p:nvSpPr>
          <p:spPr>
            <a:xfrm>
              <a:off x="0" y="310568"/>
              <a:ext cx="7310548" cy="3024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365527" y="133448"/>
              <a:ext cx="5117383" cy="3542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FB049"/>
                </a:gs>
                <a:gs pos="50000">
                  <a:srgbClr val="AAAB12"/>
                </a:gs>
                <a:gs pos="100000">
                  <a:srgbClr val="94950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25400" dir="5400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1"/>
            <p:cNvSpPr txBox="1"/>
            <p:nvPr/>
          </p:nvSpPr>
          <p:spPr>
            <a:xfrm>
              <a:off x="382820" y="150741"/>
              <a:ext cx="5082797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eiryo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iOS SDK</a:t>
              </a:r>
              <a:endParaRPr sz="15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0" y="854888"/>
              <a:ext cx="7310548" cy="1890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 txBox="1"/>
            <p:nvPr/>
          </p:nvSpPr>
          <p:spPr>
            <a:xfrm>
              <a:off x="0" y="854888"/>
              <a:ext cx="7310548" cy="189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49925" rIns="567375" bIns="85325" anchor="t" anchorCtr="0">
              <a:noAutofit/>
            </a:bodyPr>
            <a:lstStyle/>
            <a:p>
              <a:pPr marL="114300" marR="0" lvl="1" indent="-1460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Interface Builder: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Enables visual design of app interfaces.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APIs: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Offers access to Apple-specific features like Siri, ARKit, and Face ID.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Simulators: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Allows testing across various Apple devices (iPhones, iPads, etc.).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Integrated Debugging Tools: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Built into Xcode for efficient error detection.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1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Supported Languages: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 Swift and Objective-C.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365527" y="677768"/>
              <a:ext cx="5117383" cy="3542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FB049"/>
                </a:gs>
                <a:gs pos="50000">
                  <a:srgbClr val="AAAB12"/>
                </a:gs>
                <a:gs pos="100000">
                  <a:srgbClr val="94950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25400" dir="5400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382820" y="695061"/>
              <a:ext cx="5082797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eiryo"/>
                <a:buNone/>
              </a:pPr>
              <a:r>
                <a:rPr lang="en-US" sz="15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Core Components:</a:t>
              </a:r>
              <a:endParaRPr sz="15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0" y="2986808"/>
              <a:ext cx="7310548" cy="12474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10" y="2986797"/>
              <a:ext cx="7310400" cy="166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49925" rIns="567375" bIns="85325" anchor="t" anchorCtr="0">
              <a:noAutofit/>
            </a:bodyPr>
            <a:lstStyle/>
            <a:p>
              <a:pPr marL="114300" marR="0" lvl="1" indent="-1587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Seamless integration with Apple’s hardware and software ecosystem.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587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Focus on security and performance optimization.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5875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Meiryo"/>
                <a:buChar char="•"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Unified environment for consistent app development and deployment.</a:t>
              </a:r>
              <a:endParaRPr sz="1600"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365527" y="2809688"/>
              <a:ext cx="5117383" cy="3542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FB049"/>
                </a:gs>
                <a:gs pos="50000">
                  <a:srgbClr val="AAAB12"/>
                </a:gs>
                <a:gs pos="100000">
                  <a:srgbClr val="94950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25400" dir="5400000" algn="ctr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382820" y="2826981"/>
              <a:ext cx="5082797" cy="319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Strengths</a:t>
              </a:r>
              <a:endParaRPr sz="17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47" name="Google Shape;247;p11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249" name="Google Shape;249;p11" descr="Daffodil International University Logo PNG Vector (EPS) Free Downloa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0" name="Google Shape;250;p11" descr="What is iOS? - Tech Monit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3401" y="2203896"/>
            <a:ext cx="3185922" cy="3185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56" name="Google Shape;256;p12"/>
          <p:cNvGrpSpPr/>
          <p:nvPr/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257" name="Google Shape;257;p12"/>
            <p:cNvSpPr/>
            <p:nvPr/>
          </p:nvSpPr>
          <p:spPr>
            <a:xfrm>
              <a:off x="-1" y="0"/>
              <a:ext cx="10515600" cy="6858000"/>
            </a:xfrm>
            <a:custGeom>
              <a:avLst/>
              <a:gdLst/>
              <a:ahLst/>
              <a:cxnLst/>
              <a:rect l="l" t="t" r="r" b="b"/>
              <a:pathLst>
                <a:path w="10515600" h="6858000" extrusionOk="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8404334" y="0"/>
              <a:ext cx="2529723" cy="6858000"/>
            </a:xfrm>
            <a:custGeom>
              <a:avLst/>
              <a:gdLst/>
              <a:ahLst/>
              <a:cxnLst/>
              <a:rect l="l" t="t" r="r" b="b"/>
              <a:pathLst>
                <a:path w="2529723" h="6858000" extrusionOk="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8184327" y="0"/>
              <a:ext cx="2536434" cy="6858000"/>
            </a:xfrm>
            <a:custGeom>
              <a:avLst/>
              <a:gdLst/>
              <a:ahLst/>
              <a:cxnLst/>
              <a:rect l="l" t="t" r="r" b="b"/>
              <a:pathLst>
                <a:path w="2536434" h="6858000" extrusionOk="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953086" y="0"/>
              <a:ext cx="2261351" cy="6858000"/>
            </a:xfrm>
            <a:custGeom>
              <a:avLst/>
              <a:gdLst/>
              <a:ahLst/>
              <a:cxnLst/>
              <a:rect l="l" t="t" r="r" b="b"/>
              <a:pathLst>
                <a:path w="2521425" h="6858000" extrusionOk="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C8C8D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61" name="Google Shape;261;p12"/>
          <p:cNvSpPr txBox="1">
            <a:spLocks noGrp="1"/>
          </p:cNvSpPr>
          <p:nvPr>
            <p:ph type="title" idx="4294967295"/>
          </p:nvPr>
        </p:nvSpPr>
        <p:spPr>
          <a:xfrm>
            <a:off x="902828" y="293052"/>
            <a:ext cx="9527174" cy="105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 fontScale="9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Meiryo"/>
              <a:buNone/>
            </a:pPr>
            <a:r>
              <a:rPr lang="en-US" sz="3000">
                <a:solidFill>
                  <a:srgbClr val="404040"/>
                </a:solidFill>
              </a:rPr>
              <a:t>Role of SDK tools in supporting app design and development</a:t>
            </a:r>
            <a:endParaRPr/>
          </a:p>
        </p:txBody>
      </p:sp>
      <p:grpSp>
        <p:nvGrpSpPr>
          <p:cNvPr id="262" name="Google Shape;262;p12"/>
          <p:cNvGrpSpPr/>
          <p:nvPr/>
        </p:nvGrpSpPr>
        <p:grpSpPr>
          <a:xfrm>
            <a:off x="1394540" y="1924270"/>
            <a:ext cx="7310710" cy="3998177"/>
            <a:chOff x="0" y="320895"/>
            <a:chExt cx="7310710" cy="3998177"/>
          </a:xfrm>
        </p:grpSpPr>
        <p:sp>
          <p:nvSpPr>
            <p:cNvPr id="263" name="Google Shape;263;p12"/>
            <p:cNvSpPr/>
            <p:nvPr/>
          </p:nvSpPr>
          <p:spPr>
            <a:xfrm>
              <a:off x="0" y="512775"/>
              <a:ext cx="7310548" cy="10032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2"/>
            <p:cNvSpPr txBox="1"/>
            <p:nvPr/>
          </p:nvSpPr>
          <p:spPr>
            <a:xfrm>
              <a:off x="0" y="512775"/>
              <a:ext cx="7310548" cy="1003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70750" rIns="567375" bIns="92450" anchor="t" anchorCtr="0">
              <a:noAutofit/>
            </a:bodyPr>
            <a:lstStyle/>
            <a:p>
              <a:pPr marL="114300" marR="0" lvl="1" indent="-1460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Offers tools for prototyping and refining UI/UX.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Ensures apps are responsive and accessible across devices.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365527" y="320895"/>
              <a:ext cx="5117383" cy="38376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2"/>
            <p:cNvSpPr txBox="1"/>
            <p:nvPr/>
          </p:nvSpPr>
          <p:spPr>
            <a:xfrm>
              <a:off x="384261" y="339629"/>
              <a:ext cx="5079915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Design Support:</a:t>
              </a:r>
              <a:endParaRPr sz="24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0" y="1778130"/>
              <a:ext cx="7310548" cy="10032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2"/>
            <p:cNvSpPr txBox="1"/>
            <p:nvPr/>
          </p:nvSpPr>
          <p:spPr>
            <a:xfrm>
              <a:off x="0" y="1778130"/>
              <a:ext cx="7310548" cy="1003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70750" rIns="567375" bIns="92450" anchor="t" anchorCtr="0">
              <a:noAutofit/>
            </a:bodyPr>
            <a:lstStyle/>
            <a:p>
              <a:pPr marL="114300" marR="0" lvl="1" indent="-1397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Provides pre-built libraries and frameworks to simplify coding.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39700" algn="l" rtl="0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Meiryo"/>
                <a:buChar char="•"/>
              </a:pPr>
              <a:r>
                <a:rPr lang="en-US" b="0" i="0" u="none" strike="noStrike" cap="none" dirty="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Offers testing environments for debugging and app performance analysis.</a:t>
              </a:r>
              <a:endParaRPr b="0" i="0" u="none" strike="noStrike" cap="none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365527" y="1586250"/>
              <a:ext cx="5117383" cy="38376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2"/>
            <p:cNvSpPr txBox="1"/>
            <p:nvPr/>
          </p:nvSpPr>
          <p:spPr>
            <a:xfrm>
              <a:off x="384261" y="1604984"/>
              <a:ext cx="5079915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Development Support:</a:t>
              </a:r>
              <a:endParaRPr sz="17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>
              <a:off x="0" y="3043486"/>
              <a:ext cx="7310548" cy="100327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A4A5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2"/>
            <p:cNvSpPr txBox="1"/>
            <p:nvPr/>
          </p:nvSpPr>
          <p:spPr>
            <a:xfrm>
              <a:off x="10" y="3043472"/>
              <a:ext cx="7310700" cy="127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67375" tIns="270750" rIns="567375" bIns="92450" anchor="t" anchorCtr="0">
              <a:noAutofit/>
            </a:bodyPr>
            <a:lstStyle/>
            <a:p>
              <a:pPr marL="114300" marR="0" lvl="1" indent="-1460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Streamlines publishing apps to Google Play Store and Apple App Store.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  <a:p>
              <a:pPr marL="114300" marR="0" lvl="1" indent="-146050" algn="l" rtl="0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eiryo"/>
                <a:buChar char="•"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Helps maintain version compatibility across updates.</a:t>
              </a:r>
              <a:endParaRPr sz="18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365527" y="2851606"/>
              <a:ext cx="5117383" cy="383760"/>
            </a:xfrm>
            <a:prstGeom prst="roundRect">
              <a:avLst>
                <a:gd name="adj" fmla="val 16667"/>
              </a:avLst>
            </a:prstGeom>
            <a:solidFill>
              <a:srgbClr val="A4A51A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2"/>
            <p:cNvSpPr txBox="1"/>
            <p:nvPr/>
          </p:nvSpPr>
          <p:spPr>
            <a:xfrm>
              <a:off x="384261" y="2870340"/>
              <a:ext cx="5079915" cy="346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425" tIns="0" rIns="1934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Meiryo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Deployment Support:</a:t>
              </a:r>
              <a:endParaRPr sz="17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275" name="Google Shape;275;p12"/>
          <p:cNvGrpSpPr/>
          <p:nvPr/>
        </p:nvGrpSpPr>
        <p:grpSpPr>
          <a:xfrm>
            <a:off x="0" y="6485363"/>
            <a:ext cx="12092004" cy="394346"/>
            <a:chOff x="0" y="6485363"/>
            <a:chExt cx="12092004" cy="394346"/>
          </a:xfrm>
        </p:grpSpPr>
        <p:sp>
          <p:nvSpPr>
            <p:cNvPr id="276" name="Google Shape;276;p12"/>
            <p:cNvSpPr/>
            <p:nvPr/>
          </p:nvSpPr>
          <p:spPr>
            <a:xfrm>
              <a:off x="0" y="6495662"/>
              <a:ext cx="10645439" cy="384047"/>
            </a:xfrm>
            <a:prstGeom prst="rect">
              <a:avLst/>
            </a:prstGeom>
            <a:solidFill>
              <a:srgbClr val="0070C0"/>
            </a:solidFill>
            <a:ln w="12700" cap="flat" cmpd="sng">
              <a:solidFill>
                <a:srgbClr val="4545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pic>
          <p:nvPicPr>
            <p:cNvPr id="277" name="Google Shape;277;p12" descr="Daffodil International University Logo PNG Vector (EPS) Free Downloa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45129" y="6485363"/>
              <a:ext cx="1346875" cy="372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/>
          <p:nvPr/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 extrusionOk="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 extrusionOk="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 extrusionOk="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 extrusionOk="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C8C8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 extrusionOk="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 extrusionOk="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 extrusionOk="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 extrusionOk="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C8C8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1" name="Google Shape;291;p13"/>
          <p:cNvSpPr/>
          <p:nvPr/>
        </p:nvSpPr>
        <p:spPr>
          <a:xfrm rot="5400000">
            <a:off x="3167675" y="-3167677"/>
            <a:ext cx="5856341" cy="12191695"/>
          </a:xfrm>
          <a:custGeom>
            <a:avLst/>
            <a:gdLst/>
            <a:ahLst/>
            <a:cxnLst/>
            <a:rect l="l" t="t" r="r" b="b"/>
            <a:pathLst>
              <a:path w="5856341" h="12191695" extrusionOk="0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1661823" y="1346268"/>
            <a:ext cx="8868354" cy="246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262626"/>
                </a:solidFill>
                <a:latin typeface="Meiryo"/>
                <a:ea typeface="Meiryo"/>
                <a:cs typeface="Meiryo"/>
                <a:sym typeface="Meiryo"/>
              </a:rPr>
              <a:t>Thank You</a:t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 rot="5400000">
            <a:off x="5146277" y="-874927"/>
            <a:ext cx="1899138" cy="12191695"/>
          </a:xfrm>
          <a:custGeom>
            <a:avLst/>
            <a:gdLst/>
            <a:ahLst/>
            <a:cxnLst/>
            <a:rect l="l" t="t" r="r" b="b"/>
            <a:pathLst>
              <a:path w="2529723" h="6858000" extrusionOk="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4" name="Google Shape;294;p13"/>
          <p:cNvSpPr/>
          <p:nvPr/>
        </p:nvSpPr>
        <p:spPr>
          <a:xfrm rot="5400000">
            <a:off x="5143758" y="-1037574"/>
            <a:ext cx="1904176" cy="12191695"/>
          </a:xfrm>
          <a:custGeom>
            <a:avLst/>
            <a:gdLst/>
            <a:ahLst/>
            <a:cxnLst/>
            <a:rect l="l" t="t" r="r" b="b"/>
            <a:pathLst>
              <a:path w="2536434" h="6858000" extrusionOk="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5" name="Google Shape;295;p13"/>
          <p:cNvSpPr/>
          <p:nvPr/>
        </p:nvSpPr>
        <p:spPr>
          <a:xfrm rot="5400000">
            <a:off x="5247015" y="-1314429"/>
            <a:ext cx="1697663" cy="12191695"/>
          </a:xfrm>
          <a:custGeom>
            <a:avLst/>
            <a:gdLst/>
            <a:ahLst/>
            <a:cxnLst/>
            <a:rect l="l" t="t" r="r" b="b"/>
            <a:pathLst>
              <a:path w="2521425" h="6858000" extrusionOk="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C8C8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endParaRPr sz="1800" b="0" i="0" u="none" strike="noStrike" cap="non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DarkSeedLeftStep">
      <a:dk1>
        <a:srgbClr val="000000"/>
      </a:dk1>
      <a:lt1>
        <a:srgbClr val="FFFFFF"/>
      </a:lt1>
      <a:dk2>
        <a:srgbClr val="382029"/>
      </a:dk2>
      <a:lt2>
        <a:srgbClr val="E2E2E8"/>
      </a:lt2>
      <a:accent1>
        <a:srgbClr val="A4A51D"/>
      </a:accent1>
      <a:accent2>
        <a:srgbClr val="D58717"/>
      </a:accent2>
      <a:accent3>
        <a:srgbClr val="E74A29"/>
      </a:accent3>
      <a:accent4>
        <a:srgbClr val="D51745"/>
      </a:accent4>
      <a:accent5>
        <a:srgbClr val="E729A6"/>
      </a:accent5>
      <a:accent6>
        <a:srgbClr val="C617D5"/>
      </a:accent6>
      <a:hlink>
        <a:srgbClr val="BF3F7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708</Words>
  <Application>Microsoft Office PowerPoint</Application>
  <PresentationFormat>Widescreen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Meiryo</vt:lpstr>
      <vt:lpstr>Arial</vt:lpstr>
      <vt:lpstr>Corbel</vt:lpstr>
      <vt:lpstr>Noto Sans Symbols</vt:lpstr>
      <vt:lpstr>SketchLinesVTI</vt:lpstr>
      <vt:lpstr> Mobile Ecosystems and Development Environments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Mobile OS Architectures</vt:lpstr>
      <vt:lpstr>Mobile OS Architectures</vt:lpstr>
      <vt:lpstr>Introduction to SDKs</vt:lpstr>
      <vt:lpstr>Introduction to SDKs</vt:lpstr>
      <vt:lpstr>Role of SDK tools in supporting app design and development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 ON</dc:creator>
  <cp:lastModifiedBy>refat pasha</cp:lastModifiedBy>
  <cp:revision>2</cp:revision>
  <dcterms:created xsi:type="dcterms:W3CDTF">2025-01-16T17:05:00Z</dcterms:created>
  <dcterms:modified xsi:type="dcterms:W3CDTF">2026-01-30T13:19:45Z</dcterms:modified>
</cp:coreProperties>
</file>